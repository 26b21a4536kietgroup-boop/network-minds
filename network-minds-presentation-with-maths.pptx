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11"/>
    <p:sldId id="258" r:id="rId4"/>
    <p:sldId id="262" r:id="rId13"/>
    <p:sldId id="263" r:id="rId14"/>
    <p:sldId id="264" r:id="rId15"/>
    <p:sldId id="261" r:id="rId12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6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3.xml"/><Relationship Id="rId12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43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2343B"/>
                </a:solidFill>
                <a:latin typeface="Arial"/>
              </a:rPr>
              <a:t>Opinions converge over rounds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Alice</c:v>
                </c:pt>
              </c:strCache>
            </c:strRef>
          </c:tx>
          <c:spPr>
            <a:solidFill>
              <a:srgbClr val="1F77B4"/>
            </a:solidFill>
            <a:ln w="25400" cap="flat">
              <a:solidFill>
                <a:srgbClr val="1F77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85</c:v>
                </c:pt>
                <c:pt idx="1">
                  <c:v>56.5</c:v>
                </c:pt>
                <c:pt idx="2">
                  <c:v>51.95</c:v>
                </c:pt>
                <c:pt idx="3">
                  <c:v>50.46</c:v>
                </c:pt>
                <c:pt idx="4">
                  <c:v>49.91</c:v>
                </c:pt>
                <c:pt idx="5">
                  <c:v>49.74</c:v>
                </c:pt>
                <c:pt idx="6">
                  <c:v>49.71</c:v>
                </c:pt>
                <c:pt idx="7">
                  <c:v>49.72</c:v>
                </c:pt>
                <c:pt idx="8">
                  <c:v>49.73</c:v>
                </c:pt>
                <c:pt idx="9">
                  <c:v>49.73</c:v>
                </c:pt>
                <c:pt idx="10">
                  <c:v>49.74</c:v>
                </c:pt>
                <c:pt idx="11">
                  <c:v>49.74</c:v>
                </c:pt>
                <c:pt idx="12">
                  <c:v>49.74</c:v>
                </c:pt>
                <c:pt idx="13">
                  <c:v>49.74</c:v>
                </c:pt>
                <c:pt idx="14">
                  <c:v>49.74</c:v>
                </c:pt>
                <c:pt idx="15">
                  <c:v>49.74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Bob</c:v>
                </c:pt>
              </c:strCache>
            </c:strRef>
          </c:tx>
          <c:spPr>
            <a:solidFill>
              <a:srgbClr val="FF7F0E"/>
            </a:solidFill>
            <a:ln w="25400" cap="flat">
              <a:solidFill>
                <a:srgbClr val="FF7F0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7F0E"/>
              </a:solidFill>
              <a:ln w="9525" cap="flat">
                <a:solidFill>
                  <a:srgbClr val="FF7F0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20</c:v>
                </c:pt>
                <c:pt idx="1">
                  <c:v>48.5</c:v>
                </c:pt>
                <c:pt idx="2">
                  <c:v>49.7</c:v>
                </c:pt>
                <c:pt idx="3">
                  <c:v>49.49</c:v>
                </c:pt>
                <c:pt idx="4">
                  <c:v>49.49</c:v>
                </c:pt>
                <c:pt idx="5">
                  <c:v>49.57</c:v>
                </c:pt>
                <c:pt idx="6">
                  <c:v>49.65</c:v>
                </c:pt>
                <c:pt idx="7">
                  <c:v>49.69</c:v>
                </c:pt>
                <c:pt idx="8">
                  <c:v>49.72</c:v>
                </c:pt>
                <c:pt idx="9">
                  <c:v>49.73</c:v>
                </c:pt>
                <c:pt idx="10">
                  <c:v>49.74</c:v>
                </c:pt>
                <c:pt idx="11">
                  <c:v>49.74</c:v>
                </c:pt>
                <c:pt idx="12">
                  <c:v>49.74</c:v>
                </c:pt>
                <c:pt idx="13">
                  <c:v>49.74</c:v>
                </c:pt>
                <c:pt idx="14">
                  <c:v>49.74</c:v>
                </c:pt>
                <c:pt idx="15">
                  <c:v>49.74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Charlie</c:v>
                </c:pt>
              </c:strCache>
            </c:strRef>
          </c:tx>
          <c:spPr>
            <a:solidFill>
              <a:srgbClr val="2CA02C"/>
            </a:solidFill>
            <a:ln w="25400" cap="flat">
              <a:solidFill>
                <a:srgbClr val="2CA0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CA02C"/>
              </a:solidFill>
              <a:ln w="9525" cap="flat">
                <a:solidFill>
                  <a:srgbClr val="2CA0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60</c:v>
                </c:pt>
                <c:pt idx="1">
                  <c:v>39.5</c:v>
                </c:pt>
                <c:pt idx="2">
                  <c:v>44.95</c:v>
                </c:pt>
                <c:pt idx="3">
                  <c:v>48.16</c:v>
                </c:pt>
                <c:pt idx="4">
                  <c:v>49.33</c:v>
                </c:pt>
                <c:pt idx="5">
                  <c:v>49.68</c:v>
                </c:pt>
                <c:pt idx="6">
                  <c:v>49.75</c:v>
                </c:pt>
                <c:pt idx="7">
                  <c:v>49.76</c:v>
                </c:pt>
                <c:pt idx="8">
                  <c:v>49.75</c:v>
                </c:pt>
                <c:pt idx="9">
                  <c:v>49.75</c:v>
                </c:pt>
                <c:pt idx="10">
                  <c:v>49.74</c:v>
                </c:pt>
                <c:pt idx="11">
                  <c:v>49.74</c:v>
                </c:pt>
                <c:pt idx="12">
                  <c:v>49.74</c:v>
                </c:pt>
                <c:pt idx="13">
                  <c:v>49.74</c:v>
                </c:pt>
                <c:pt idx="14">
                  <c:v>49.74</c:v>
                </c:pt>
                <c:pt idx="15">
                  <c:v>49.74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David</c:v>
                </c:pt>
              </c:strCache>
            </c:strRef>
          </c:tx>
          <c:spPr>
            <a:solidFill>
              <a:srgbClr val="D62728"/>
            </a:solidFill>
            <a:ln w="25400" cap="flat">
              <a:solidFill>
                <a:srgbClr val="D627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2728"/>
              </a:solidFill>
              <a:ln w="9525" cap="flat">
                <a:solidFill>
                  <a:srgbClr val="D627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</c:lvl>
              </c:multiLvlStrCache>
            </c:multiLvl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10</c:v>
                </c:pt>
                <c:pt idx="1">
                  <c:v>46</c:v>
                </c:pt>
                <c:pt idx="2">
                  <c:v>50.15</c:v>
                </c:pt>
                <c:pt idx="3">
                  <c:v>50.41</c:v>
                </c:pt>
                <c:pt idx="4">
                  <c:v>50.18</c:v>
                </c:pt>
                <c:pt idx="5">
                  <c:v>49.98</c:v>
                </c:pt>
                <c:pt idx="6">
                  <c:v>49.86</c:v>
                </c:pt>
                <c:pt idx="7">
                  <c:v>49.79</c:v>
                </c:pt>
                <c:pt idx="8">
                  <c:v>49.76</c:v>
                </c:pt>
                <c:pt idx="9">
                  <c:v>49.75</c:v>
                </c:pt>
                <c:pt idx="10">
                  <c:v>49.75</c:v>
                </c:pt>
                <c:pt idx="11">
                  <c:v>49.74</c:v>
                </c:pt>
                <c:pt idx="12">
                  <c:v>49.74</c:v>
                </c:pt>
                <c:pt idx="13">
                  <c:v>49.74</c:v>
                </c:pt>
                <c:pt idx="14">
                  <c:v>49.74</c:v>
                </c:pt>
                <c:pt idx="15">
                  <c:v>49.74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Eve</c:v>
                </c:pt>
              </c:strCache>
            </c:strRef>
          </c:tx>
          <c:spPr>
            <a:solidFill>
              <a:srgbClr val="9467BD"/>
            </a:solidFill>
            <a:ln w="25400" cap="flat">
              <a:solidFill>
                <a:srgbClr val="9467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467BD"/>
              </a:solidFill>
              <a:ln w="9525" cap="flat">
                <a:solidFill>
                  <a:srgbClr val="9467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</c:lvl>
              </c:multiLvlStrCache>
            </c:multiLvl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95</c:v>
                </c:pt>
                <c:pt idx="1">
                  <c:v>62.5</c:v>
                </c:pt>
                <c:pt idx="2">
                  <c:v>52.6</c:v>
                </c:pt>
                <c:pt idx="3">
                  <c:v>50.23</c:v>
                </c:pt>
                <c:pt idx="4">
                  <c:v>49.8</c:v>
                </c:pt>
                <c:pt idx="5">
                  <c:v>49.76</c:v>
                </c:pt>
                <c:pt idx="6">
                  <c:v>49.77</c:v>
                </c:pt>
                <c:pt idx="7">
                  <c:v>49.77</c:v>
                </c:pt>
                <c:pt idx="8">
                  <c:v>49.76</c:v>
                </c:pt>
                <c:pt idx="9">
                  <c:v>49.75</c:v>
                </c:pt>
                <c:pt idx="10">
                  <c:v>49.75</c:v>
                </c:pt>
                <c:pt idx="11">
                  <c:v>49.74</c:v>
                </c:pt>
                <c:pt idx="12">
                  <c:v>49.74</c:v>
                </c:pt>
                <c:pt idx="13">
                  <c:v>49.74</c:v>
                </c:pt>
                <c:pt idx="14">
                  <c:v>49.74</c:v>
                </c:pt>
                <c:pt idx="15">
                  <c:v>49.74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1B2A2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1B2A2F"/>
                    </a:solidFill>
                    <a:latin typeface="Arial"/>
                  </a:rPr>
                  <a:t>Round 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A2F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Influence (%)</c:v>
                </c:pt>
              </c:strCache>
            </c:strRef>
          </c:tx>
          <c:spPr>
            <a:solidFill>
              <a:srgbClr val="2D6A6F"/>
            </a:solidFill>
          </c:spPr>
          <c:dPt>
            <c:idx val="1"/>
            <c:spPr>
              <a:solidFill>
                <a:srgbClr val="E06C4B"/>
              </a:solidFill>
            </c:spPr>
          </c:dPt>
          <c:cat>
            <c:strRef>
              <c:f>Sheet1!$A$2:$A$6</c:f>
              <c:strCache>
                <c:ptCount val="5"/>
                <c:pt idx="0">
                  <c:v>Alice</c:v>
                </c:pt>
                <c:pt idx="1">
                  <c:v>Bob</c:v>
                </c:pt>
                <c:pt idx="2">
                  <c:v>Charlie</c:v>
                </c:pt>
                <c:pt idx="3">
                  <c:v>David</c:v>
                </c:pt>
                <c:pt idx="4">
                  <c:v>Eve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23.8</c:v>
                </c:pt>
                <c:pt idx="1">
                  <c:v>24.3</c:v>
                </c:pt>
                <c:pt idx="2">
                  <c:v>19.4</c:v>
                </c:pt>
                <c:pt idx="3">
                  <c:v>21.0</c:v>
                </c:pt>
                <c:pt idx="4">
                  <c:v>11.5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12343B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D3D4"/>
            </a:solidFill>
          </a:ln>
        </c:spPr>
        <c:txPr>
          <a:bodyPr/>
          <a:lstStyle/>
          <a:p>
            <a:pPr>
              <a:defRPr sz="1100">
                <a:solidFill>
                  <a:srgbClr val="4A626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name, theme and introduction.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people update opinions as weighted averages of each other's. Cayley-Hamilton expresses any power of A using I, A, ..., A^4. The left eigenvector v for eigenvalue 1 gives long-run influence; everyone converges to v^T x(0).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 i of A lists how much person i trusts each person. Entries are non-negative and each row sums to 1 (row-stochastic). Because rows sum to 1, A times the all-ones vector is the all-ones vector, so 1 is always an eigenvalue. The matrix shown reproduces the opinions on the chart: Alice, Bob, Charlie, David, 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characteristic polynomial p(lambda) = det(lambda I - A) has degree 5. Cayley-Hamilton says every square matrix satisfies its own characteristic polynomial, p(A) = 0. So A^5 is a combination of I, A, ..., A^4, and by repeating this, every higher power is too. Coefficients can be found by dividing lambda^n by p(lambda) and matching at each eigenvalue. Check: trace = 2.2 equals the sum of eigenvalues, and det = 0.0049 equals their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Row-stochastic A has eigenvalue 1, and here every other eigenvalue has modulus at most 0.449, so A^n converges to the rank-one matrix 1 v^T, where v is the left eigenvector for eigenvalue 1 scaled to sum to 1. Each person then holds v^T x(0). Influence vector: Alice 23.8%, Bob 24.3%, Charlie 19.4%, David 21.0%, Eve 11.5%. The error shrinks like 0.449^n, which matches the chart settling by about round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MINDS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Dynamics in a Network: Cayley-Hamilton &amp; Consensus</a:t>
            </a:r>
            <a:endParaRPr lang="en-US" sz="1800" dirty="0"/>
          </a:p>
        </p:txBody>
      </p:sp>
      <p:sp>
        <p:nvSpPr>
          <p:cNvPr id="4" name="Team lead card"/>
          <p:cNvSpPr/>
          <p:nvPr/>
        </p:nvSpPr>
        <p:spPr>
          <a:xfrm>
            <a:off x="457200" y="21488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2D6A6F"/>
          </a:solidFill>
          <a:ln w="12700">
            <a:solidFill>
              <a:srgbClr val="2D6A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488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DONTHAGANI JASWANTH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26B21A4536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8" name="Member 1"/>
          <p:cNvSpPr/>
          <p:nvPr/>
        </p:nvSpPr>
        <p:spPr>
          <a:xfrm>
            <a:off x="457200" y="34747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1E4A52"/>
          </a:solidFill>
          <a:ln w="12700">
            <a:solidFill>
              <a:srgbClr val="1E4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474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DANIEL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3474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26B21A4539</a:t>
            </a:r>
            <a:endParaRPr lang="en-US" sz="1400" dirty="0"/>
          </a:p>
        </p:txBody>
      </p:sp>
      <p:sp>
        <p:nvSpPr>
          <p:cNvPr id="11" name="Member 2"/>
          <p:cNvSpPr/>
          <p:nvPr/>
        </p:nvSpPr>
        <p:spPr>
          <a:xfrm>
            <a:off x="4663440" y="347472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1E4A52"/>
          </a:solidFill>
          <a:ln w="12700">
            <a:solidFill>
              <a:srgbClr val="1E4A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3474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TANISH GOPI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474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26B21A4537</a:t>
            </a:r>
            <a:endParaRPr lang="en-US" sz="1400" dirty="0"/>
          </a:p>
        </p:txBody>
      </p:sp>
      <p:sp>
        <p:nvSpPr>
          <p:cNvPr id="14" name="Member 3"/>
          <p:cNvSpPr/>
          <p:nvPr/>
        </p:nvSpPr>
        <p:spPr>
          <a:xfrm>
            <a:off x="457200" y="41148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1E4A52"/>
          </a:solidFill>
          <a:ln w="12700">
            <a:solidFill>
              <a:srgbClr val="1E4A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CHARAN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4114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26B21A4540</a:t>
            </a:r>
            <a:endParaRPr lang="en-US" sz="1400" dirty="0"/>
          </a:p>
        </p:txBody>
      </p:sp>
      <p:sp>
        <p:nvSpPr>
          <p:cNvPr id="17" name="Member 4"/>
          <p:cNvSpPr/>
          <p:nvPr/>
        </p:nvSpPr>
        <p:spPr>
          <a:xfrm>
            <a:off x="4663440" y="41148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1E4A52"/>
          </a:solidFill>
          <a:ln w="12700">
            <a:solidFill>
              <a:srgbClr val="1E4A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CHARAN TEJA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4114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26B21A4538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INFLUENCE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PROPAGATION</a:t>
            </a:r>
            <a:endParaRPr lang="en-US" sz="4400" dirty="0"/>
          </a:p>
        </p:txBody>
      </p:sp>
      <p:sp>
        <p:nvSpPr>
          <p:cNvPr id="4" name="Theme card"/>
          <p:cNvSpPr/>
          <p:nvPr/>
        </p:nvSpPr>
        <p:spPr>
          <a:xfrm>
            <a:off x="457200" y="224028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2D6A6F"/>
          </a:solidFill>
          <a:ln w="12700">
            <a:solidFill>
              <a:srgbClr val="2D6A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3774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THEME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applied to social networks: how trust between people shapes opinions, who holds the most influence, and whether a group reaches consensus.</a:t>
            </a:r>
            <a:endParaRPr lang="en-US" sz="1600" dirty="0"/>
          </a:p>
        </p:txBody>
      </p:sp>
      <p:sp>
        <p:nvSpPr>
          <p:cNvPr id="6" name="Introduction card"/>
          <p:cNvSpPr/>
          <p:nvPr/>
        </p:nvSpPr>
        <p:spPr>
          <a:xfrm>
            <a:off x="4663440" y="224028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23774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update their views by averaging the opinions of those they trust. We model this with a row-stochastic influence matrix A, so opinions evolve as x(n) = Aⁿ x(0). Cayley-Hamilton gives Aⁿ from the first five powers of A, and the left eigenvector of A reveals each person’s long-term influence.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Alice’s Opinion</a:t>
            </a:r>
          </a:p>
        </p:txBody>
      </p:sp>
      <p:sp>
        <p:nvSpPr>
          <p:cNvPr id="4" name="Round 1 card"/>
          <p:cNvSpPr/>
          <p:nvPr/>
        </p:nvSpPr>
        <p:spPr>
          <a:xfrm>
            <a:off x="457200" y="1188720"/>
            <a:ext cx="4846320" cy="3200400"/>
          </a:xfrm>
          <a:prstGeom prst="roundRect">
            <a:avLst>
              <a:gd name="adj" fmla="val 4167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</p:spPr>
      </p:sp>
      <p:sp>
        <p:nvSpPr>
          <p:cNvPr id="5" name="Round 1 label"/>
          <p:cNvSpPr txBox="1"/>
          <p:nvPr/>
        </p:nvSpPr>
        <p:spPr>
          <a:xfrm>
            <a:off x="640080" y="12344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x(1) = A·x(0), ALICE’S ROW</a:t>
            </a:r>
          </a:p>
        </p:txBody>
      </p:sp>
      <p:graphicFrame>
        <p:nvGraphicFramePr>
          <p:cNvPr id="2" name="Round 1 table"/>
          <p:cNvGraphicFramePr>
            <a:graphicFrameLocks noGrp="1"/>
          </p:cNvGraphicFramePr>
          <p:nvPr/>
        </p:nvGraphicFramePr>
        <p:xfrm>
          <a:off x="640080" y="1508760"/>
          <a:ext cx="4480560" cy="2368296"/>
        </p:xfrm>
        <a:graphic>
          <a:graphicData uri="http://schemas.openxmlformats.org/drawingml/2006/table">
            <a:tbl>
              <a:tblPr firstRow="1"/>
              <a:tblGrid>
                <a:gridCol w="1280160"/>
                <a:gridCol w="960120"/>
                <a:gridCol w="1120140"/>
                <a:gridCol w="1120140"/>
              </a:tblGrid>
              <a:tr h="3383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solidFill>
                      <a:srgbClr val="2D6A6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solidFill>
                      <a:srgbClr val="2D6A6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 x(0)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solidFill>
                      <a:srgbClr val="2D6A6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solidFill>
                      <a:srgbClr val="2D6A6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Charlie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solidFill>
                            <a:srgbClr val="12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6D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 1 note"/>
          <p:cNvSpPr txBox="1"/>
          <p:nvPr/>
        </p:nvSpPr>
        <p:spPr>
          <a:xfrm>
            <a:off x="640080" y="3977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come from Alice’s row of A and sum to 1.</a:t>
            </a:r>
          </a:p>
        </p:txBody>
      </p:sp>
      <p:sp>
        <p:nvSpPr>
          <p:cNvPr id="7" name="Round 2 card"/>
          <p:cNvSpPr/>
          <p:nvPr/>
        </p:nvSpPr>
        <p:spPr>
          <a:xfrm>
            <a:off x="5486400" y="1188720"/>
            <a:ext cx="3200400" cy="1737360"/>
          </a:xfrm>
          <a:prstGeom prst="roundRect">
            <a:avLst>
              <a:gd name="adj" fmla="val 4167"/>
            </a:avLst>
          </a:prstGeom>
          <a:solidFill>
            <a:srgbClr val="2D6A6F"/>
          </a:solidFill>
          <a:ln w="12700">
            <a:solidFill>
              <a:srgbClr val="2D6A6F"/>
            </a:solidFill>
            <a:prstDash val="solid"/>
          </a:ln>
        </p:spPr>
      </p:sp>
      <p:sp>
        <p:nvSpPr>
          <p:cNvPr id="8" name="Round 2 text"/>
          <p:cNvSpPr txBox="1"/>
          <p:nvPr/>
        </p:nvSpPr>
        <p:spPr>
          <a:xfrm>
            <a:off x="5669280" y="13258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weights on the round-1 opinions (56.5, 48.5, 39.5, 46, 62.5):</a:t>
            </a: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0.4·56.5 + 0.3·48.5 + 0.1·39.5 + 0.1·46 + 0.1·62.5 = 51.95</a:t>
            </a:r>
          </a:p>
        </p:txBody>
      </p:sp>
      <p:sp>
        <p:nvSpPr>
          <p:cNvPr id="9" name="Path card"/>
          <p:cNvSpPr/>
          <p:nvPr/>
        </p:nvSpPr>
        <p:spPr>
          <a:xfrm>
            <a:off x="5486400" y="3108960"/>
            <a:ext cx="3200400" cy="1280160"/>
          </a:xfrm>
          <a:prstGeom prst="roundRect">
            <a:avLst>
              <a:gd name="adj" fmla="val 4167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</p:spPr>
      </p:sp>
      <p:sp>
        <p:nvSpPr>
          <p:cNvPr id="10" name="Path text"/>
          <p:cNvSpPr txBox="1"/>
          <p:nvPr/>
        </p:nvSpPr>
        <p:spPr>
          <a:xfrm>
            <a:off x="5669280" y="32461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ALICE’S PATH</a:t>
            </a:r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→ 56.5 → 51.95 → … → 49.74, the consensus opinion.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Opinion Dynamics in a Network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2D6A6F"/>
          </a:solidFill>
          <a:ln w="12700">
            <a:solidFill>
              <a:srgbClr val="2D6A6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51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x(n) = Aⁿ x(0), A row-stochastic</a:t>
            </a:r>
            <a:endParaRPr lang="en-US" sz="1600" dirty="0"/>
          </a:p>
        </p:txBody>
      </p:sp>
      <p:sp>
        <p:nvSpPr>
          <p:cNvPr id="6" name="Step 2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2D6A6F"/>
          </a:solidFill>
          <a:ln w="12700">
            <a:solidFill>
              <a:srgbClr val="2D6A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Cayley-Hamilton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Aⁿ = α₀I + α₁A + … + α₄A⁴</a:t>
            </a:r>
            <a:endParaRPr lang="en-US" sz="1600" dirty="0"/>
          </a:p>
        </p:txBody>
      </p:sp>
      <p:sp>
        <p:nvSpPr>
          <p:cNvPr id="9" name="Step 3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2D6A6F"/>
          </a:solidFill>
          <a:ln w="12700">
            <a:solidFill>
              <a:srgbClr val="2D6A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40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Aⁿ → 1vᵀ, so x* = vᵀ x(0)</a:t>
            </a:r>
            <a:endParaRPr lang="en-US" sz="1600" dirty="0"/>
          </a:p>
        </p:txBody>
      </p:sp>
      <p:sp>
        <p:nvSpPr>
          <p:cNvPr id="12" name="Example card"/>
          <p:cNvSpPr/>
          <p:nvPr/>
        </p:nvSpPr>
        <p:spPr>
          <a:xfrm>
            <a:off x="457200" y="2971800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FDEBE5"/>
          </a:solidFill>
          <a:ln w="12700">
            <a:solidFill>
              <a:srgbClr val="FDEB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718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ROUND 1 FOR ALICE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0.4·85 + 0.3·20 + 0.1·60 + 0.1·10 + 0.1·95 = 56.5, down from 85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480560" y="1097280"/>
          <a:ext cx="4206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Consensus card"/>
          <p:cNvSpPr/>
          <p:nvPr/>
        </p:nvSpPr>
        <p:spPr>
          <a:xfrm>
            <a:off x="457200" y="411480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4114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</a:t>
            </a:r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consensus opinion</a:t>
            </a:r>
            <a:endParaRPr lang="en-US" sz="3000" dirty="0"/>
          </a:p>
        </p:txBody>
      </p:sp>
      <p:sp>
        <p:nvSpPr>
          <p:cNvPr id="17" name="Influence card"/>
          <p:cNvSpPr/>
          <p:nvPr/>
        </p:nvSpPr>
        <p:spPr>
          <a:xfrm>
            <a:off x="4480560" y="411480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63440" y="4114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24.3%</a:t>
            </a:r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Bob is most influential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in Daily Life</a:t>
            </a:r>
          </a:p>
        </p:txBody>
      </p:sp>
      <p:sp>
        <p:nvSpPr>
          <p:cNvPr id="3" name="Card 1"/>
          <p:cNvSpPr/>
          <p:nvPr/>
        </p:nvSpPr>
        <p:spPr>
          <a:xfrm>
            <a:off x="457200" y="1188720"/>
            <a:ext cx="4023360" cy="1325880"/>
          </a:xfrm>
          <a:prstGeom prst="roundRect">
            <a:avLst>
              <a:gd name="adj" fmla="val 4167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2D6A6F"/>
          </a:solidFill>
          <a:ln w="12700">
            <a:solidFill>
              <a:srgbClr val="2D6A6F"/>
            </a:solidFill>
          </a:ln>
        </p:spPr>
      </p:sp>
      <p:sp>
        <p:nvSpPr>
          <p:cNvPr id="5" name="Badge 1 number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6" name="Card 1 text"/>
          <p:cNvSpPr txBox="1"/>
          <p:nvPr/>
        </p:nvSpPr>
        <p:spPr>
          <a:xfrm>
            <a:off x="1234440" y="1325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&amp; news</a:t>
            </a:r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Influential accounts carry more weight, so they shape what a community comes to believe.</a:t>
            </a:r>
          </a:p>
        </p:txBody>
      </p:sp>
      <p:sp>
        <p:nvSpPr>
          <p:cNvPr id="7" name="Card 2"/>
          <p:cNvSpPr/>
          <p:nvPr/>
        </p:nvSpPr>
        <p:spPr>
          <a:xfrm>
            <a:off x="4663440" y="1188720"/>
            <a:ext cx="4023360" cy="1325880"/>
          </a:xfrm>
          <a:prstGeom prst="roundRect">
            <a:avLst>
              <a:gd name="adj" fmla="val 4167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</p:spPr>
      </p:sp>
      <p:sp>
        <p:nvSpPr>
          <p:cNvPr id="8" name="Badge 2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rgbClr val="2D6A6F"/>
          </a:solidFill>
          <a:ln w="12700">
            <a:solidFill>
              <a:srgbClr val="2D6A6F"/>
            </a:solidFill>
          </a:ln>
        </p:spPr>
      </p:sp>
      <p:sp>
        <p:nvSpPr>
          <p:cNvPr id="9" name="Badge 2 number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0" name="Card 2 text"/>
          <p:cNvSpPr txBox="1"/>
          <p:nvPr/>
        </p:nvSpPr>
        <p:spPr>
          <a:xfrm>
            <a:off x="5440680" y="1325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decisions</a:t>
            </a:r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Friends, families and teams keep exchanging views until they settle on a shared opinion.</a:t>
            </a:r>
          </a:p>
        </p:txBody>
      </p:sp>
      <p:sp>
        <p:nvSpPr>
          <p:cNvPr id="11" name="Card 3"/>
          <p:cNvSpPr/>
          <p:nvPr/>
        </p:nvSpPr>
        <p:spPr>
          <a:xfrm>
            <a:off x="457200" y="2697480"/>
            <a:ext cx="4023360" cy="1325880"/>
          </a:xfrm>
          <a:prstGeom prst="roundRect">
            <a:avLst>
              <a:gd name="adj" fmla="val 4167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</p:spPr>
      </p:sp>
      <p:sp>
        <p:nvSpPr>
          <p:cNvPr id="12" name="Badge 3"/>
          <p:cNvSpPr/>
          <p:nvPr/>
        </p:nvSpPr>
        <p:spPr>
          <a:xfrm>
            <a:off x="640080" y="2880360"/>
            <a:ext cx="411480" cy="411480"/>
          </a:xfrm>
          <a:prstGeom prst="ellipse">
            <a:avLst/>
          </a:prstGeom>
          <a:solidFill>
            <a:srgbClr val="2D6A6F"/>
          </a:solidFill>
          <a:ln w="12700">
            <a:solidFill>
              <a:srgbClr val="2D6A6F"/>
            </a:solidFill>
          </a:ln>
        </p:spPr>
      </p:sp>
      <p:sp>
        <p:nvSpPr>
          <p:cNvPr id="13" name="Badge 3 number"/>
          <p:cNvSpPr txBox="1"/>
          <p:nvPr/>
        </p:nvSpPr>
        <p:spPr>
          <a:xfrm>
            <a:off x="64008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4" name="Card 3 text"/>
          <p:cNvSpPr txBox="1"/>
          <p:nvPr/>
        </p:nvSpPr>
        <p:spPr>
          <a:xfrm>
            <a:off x="1234440" y="28346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awareness</a:t>
            </a:r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the most influential person spreads a message further than reaching many others.</a:t>
            </a:r>
          </a:p>
        </p:txBody>
      </p:sp>
      <p:sp>
        <p:nvSpPr>
          <p:cNvPr id="15" name="Card 4"/>
          <p:cNvSpPr/>
          <p:nvPr/>
        </p:nvSpPr>
        <p:spPr>
          <a:xfrm>
            <a:off x="4663440" y="2697480"/>
            <a:ext cx="4023360" cy="1325880"/>
          </a:xfrm>
          <a:prstGeom prst="roundRect">
            <a:avLst>
              <a:gd name="adj" fmla="val 4167"/>
            </a:avLst>
          </a:prstGeom>
          <a:solidFill>
            <a:srgbClr val="F1F5F5"/>
          </a:solidFill>
          <a:ln w="12700">
            <a:solidFill>
              <a:srgbClr val="F1F5F5"/>
            </a:solidFill>
            <a:prstDash val="solid"/>
          </a:ln>
        </p:spPr>
      </p:sp>
      <p:sp>
        <p:nvSpPr>
          <p:cNvPr id="16" name="Badge 4"/>
          <p:cNvSpPr/>
          <p:nvPr/>
        </p:nvSpPr>
        <p:spPr>
          <a:xfrm>
            <a:off x="4846320" y="2880360"/>
            <a:ext cx="411480" cy="411480"/>
          </a:xfrm>
          <a:prstGeom prst="ellipse">
            <a:avLst/>
          </a:prstGeom>
          <a:solidFill>
            <a:srgbClr val="2D6A6F"/>
          </a:solidFill>
          <a:ln w="12700">
            <a:solidFill>
              <a:srgbClr val="2D6A6F"/>
            </a:solidFill>
          </a:ln>
        </p:spPr>
      </p:sp>
      <p:sp>
        <p:nvSpPr>
          <p:cNvPr id="17" name="Badge 4 number"/>
          <p:cNvSpPr txBox="1"/>
          <p:nvPr/>
        </p:nvSpPr>
        <p:spPr>
          <a:xfrm>
            <a:off x="4846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8" name="Card 4 text"/>
          <p:cNvSpPr txBox="1"/>
          <p:nvPr/>
        </p:nvSpPr>
        <p:spPr>
          <a:xfrm>
            <a:off x="5440680" y="28346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ranking</a:t>
            </a:r>
          </a:p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Google’s PageRank uses the same eigenvector idea to rank the most trusted pages.</a:t>
            </a:r>
          </a:p>
        </p:txBody>
      </p:sp>
      <p:sp>
        <p:nvSpPr>
          <p:cNvPr id="19" name="Takeaway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math, everyday question: who influences whom, and where does the group end up?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You, Everyone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sincerely appreciate your time and attention. We would be glad to answer any questions you may have.</a:t>
            </a:r>
            <a:endParaRPr lang="en-US" sz="2000" dirty="0"/>
          </a:p>
        </p:txBody>
      </p:sp>
      <p:sp>
        <p:nvSpPr>
          <p:cNvPr id="4" name="Team tag"/>
          <p:cNvSpPr/>
          <p:nvPr/>
        </p:nvSpPr>
        <p:spPr>
          <a:xfrm>
            <a:off x="457200" y="3840480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2D6A6F"/>
          </a:solidFill>
          <a:ln w="12700">
            <a:solidFill>
              <a:srgbClr val="2D6A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MINDS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400" b="1" i="0">
                <a:solidFill>
                  <a:srgbClr val="12343B"/>
                </a:solidFill>
                <a:latin typeface="Cambria"/>
              </a:rPr>
              <a:t>The Maths: Setting Up the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4846320" cy="3200400"/>
          </a:xfrm>
          <a:prstGeom prst="roundRect">
            <a:avLst>
              <a:gd name="adj" fmla="val 4167"/>
            </a:avLst>
          </a:prstGeom>
          <a:solidFill>
            <a:srgbClr val="F1F5F5"/>
          </a:solidFill>
          <a:ln w="12700">
            <a:solidFill>
              <a:srgbClr val="F1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2D6A6F"/>
                </a:solidFill>
                <a:latin typeface="Calibri"/>
              </a:rPr>
              <a:t>INFLUENCE MATRIX A  (ROW = WHO IS LISTENING)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4480560" cy="2194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7240"/>
                <a:gridCol w="594360"/>
                <a:gridCol w="594360"/>
                <a:gridCol w="594360"/>
                <a:gridCol w="594360"/>
                <a:gridCol w="59436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anchor="ctr">
                    <a:solidFill>
                      <a:srgbClr val="2D6A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Alice</a:t>
                      </a:r>
                    </a:p>
                  </a:txBody>
                  <a:tcPr marL="45720" marR="45720" anchor="ctr">
                    <a:solidFill>
                      <a:srgbClr val="2D6A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Bob</a:t>
                      </a:r>
                    </a:p>
                  </a:txBody>
                  <a:tcPr marL="45720" marR="45720" anchor="ctr">
                    <a:solidFill>
                      <a:srgbClr val="2D6A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Charlie</a:t>
                      </a:r>
                    </a:p>
                  </a:txBody>
                  <a:tcPr marL="45720" marR="45720" anchor="ctr">
                    <a:solidFill>
                      <a:srgbClr val="2D6A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David</a:t>
                      </a:r>
                    </a:p>
                  </a:txBody>
                  <a:tcPr marL="45720" marR="45720" anchor="ctr">
                    <a:solidFill>
                      <a:srgbClr val="2D6A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Eve</a:t>
                      </a:r>
                    </a:p>
                  </a:txBody>
                  <a:tcPr marL="45720" marR="45720" anchor="ctr">
                    <a:solidFill>
                      <a:srgbClr val="2D6A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Row sum</a:t>
                      </a:r>
                    </a:p>
                  </a:txBody>
                  <a:tcPr marL="45720" marR="45720" anchor="ctr">
                    <a:solidFill>
                      <a:srgbClr val="2D6A6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2343B"/>
                          </a:solidFill>
                          <a:latin typeface="Calibri"/>
                        </a:rPr>
                        <a:t>Alice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D6A6F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2343B"/>
                          </a:solidFill>
                          <a:latin typeface="Calibri"/>
                        </a:rPr>
                        <a:t>Bob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D6A6F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2343B"/>
                          </a:solidFill>
                          <a:latin typeface="Calibri"/>
                        </a:rPr>
                        <a:t>Charlie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D6A6F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2343B"/>
                          </a:solidFill>
                          <a:latin typeface="Calibri"/>
                        </a:rPr>
                        <a:t>David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D6A6F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2343B"/>
                          </a:solidFill>
                          <a:latin typeface="Calibri"/>
                        </a:rPr>
                        <a:t>Eve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2343B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D6A6F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31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0" i="1">
                <a:solidFill>
                  <a:srgbClr val="4A6266"/>
                </a:solidFill>
                <a:latin typeface="Calibri"/>
              </a:rPr>
              <a:t>Check: Alice’s row × x(0) = 56.5, matching the worked example.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188720"/>
            <a:ext cx="3200400" cy="1828800"/>
          </a:xfrm>
          <a:prstGeom prst="roundRect">
            <a:avLst>
              <a:gd name="adj" fmla="val 4167"/>
            </a:avLst>
          </a:prstGeom>
          <a:solidFill>
            <a:srgbClr val="2D6A6F"/>
          </a:solidFill>
          <a:ln w="12700">
            <a:solidFill>
              <a:srgbClr val="2D6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325880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TWO RULES FOR 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Every entry is ≥ 0 (trust is never negative).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Each row sums to 1, so A·1 = 1 and λ = 1 is always an eigenvalue.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3200400"/>
            <a:ext cx="3200400" cy="1188720"/>
          </a:xfrm>
          <a:prstGeom prst="roundRect">
            <a:avLst>
              <a:gd name="adj" fmla="val 4167"/>
            </a:avLst>
          </a:prstGeom>
          <a:solidFill>
            <a:srgbClr val="F1F5F5"/>
          </a:solidFill>
          <a:ln w="12700">
            <a:solidFill>
              <a:srgbClr val="F1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3291840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2D6A6F"/>
                </a:solidFill>
                <a:latin typeface="Calibri"/>
              </a:rPr>
              <a:t>UPDATE RULE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x(n+1) = A·x(n)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12343B"/>
                </a:solidFill>
                <a:latin typeface="Calibri"/>
              </a:rPr>
              <a:t>so x(n) = Aⁿ x(0)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400" b="1" i="0">
                <a:solidFill>
                  <a:srgbClr val="12343B"/>
                </a:solidFill>
                <a:latin typeface="Cambria"/>
              </a:rPr>
              <a:t>The Maths: Cayley-Hamilton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4846320" cy="3200400"/>
          </a:xfrm>
          <a:prstGeom prst="roundRect">
            <a:avLst>
              <a:gd name="adj" fmla="val 4167"/>
            </a:avLst>
          </a:prstGeom>
          <a:solidFill>
            <a:srgbClr val="F1F5F5"/>
          </a:solidFill>
          <a:ln w="12700">
            <a:solidFill>
              <a:srgbClr val="F1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44805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2D6A6F"/>
                </a:solidFill>
                <a:latin typeface="Calibri"/>
              </a:rPr>
              <a:t>1. CHARACTERISTIC POLYNOMIAL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12343B"/>
                </a:solidFill>
                <a:latin typeface="Calibri"/>
              </a:rPr>
              <a:t>p(λ) = det(λI − A)</a:t>
            </a:r>
          </a:p>
          <a:p>
            <a:pPr>
              <a:spcAft>
                <a:spcPts val="160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= λ⁵ − 2.2λ⁴ + 1.72λ³ − 0.613λ² + 0.0979λ − 0.0049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2D6A6F"/>
                </a:solidFill>
                <a:latin typeface="Calibri"/>
              </a:rPr>
              <a:t>2. CAYLEY-HAMILTON: A SATISFIES p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12343B"/>
                </a:solidFill>
                <a:latin typeface="Calibri"/>
              </a:rPr>
              <a:t>p(A) = 0, so</a:t>
            </a:r>
          </a:p>
          <a:p>
            <a:pPr>
              <a:spcAft>
                <a:spcPts val="160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A⁵ = 2.2A⁴ − 1.72A³ + 0.613A² − 0.0979A + 0.0049I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2D6A6F"/>
                </a:solidFill>
                <a:latin typeface="Calibri"/>
              </a:rPr>
              <a:t>3. EVERY POWER REDUCES TO DEGREE 4</a:t>
            </a:r>
          </a:p>
          <a:p>
            <a:pPr>
              <a:spcAft>
                <a:spcPts val="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Aⁿ = α₀I + α₁A + α₂A² + α₃A³ + α₄A⁴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188720"/>
            <a:ext cx="3200400" cy="1828800"/>
          </a:xfrm>
          <a:prstGeom prst="roundRect">
            <a:avLst>
              <a:gd name="adj" fmla="val 4167"/>
            </a:avLst>
          </a:prstGeom>
          <a:solidFill>
            <a:srgbClr val="2D6A6F"/>
          </a:solidFill>
          <a:ln w="12700">
            <a:solidFill>
              <a:srgbClr val="2D6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325880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FINDING α₀ … α₄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Divide: λⁿ = q(λ)·p(λ) + r(λ).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Since p(A) = 0, Aⁿ = r(A).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3200400"/>
            <a:ext cx="3200400" cy="1188720"/>
          </a:xfrm>
          <a:prstGeom prst="roundRect">
            <a:avLst>
              <a:gd name="adj" fmla="val 4167"/>
            </a:avLst>
          </a:prstGeom>
          <a:solidFill>
            <a:srgbClr val="F1F5F5"/>
          </a:solidFill>
          <a:ln w="12700">
            <a:solidFill>
              <a:srgbClr val="F1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3291840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2D6A6F"/>
                </a:solidFill>
                <a:latin typeface="Calibri"/>
              </a:rPr>
              <a:t>EIGENVALUES OF A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2343B"/>
                </a:solidFill>
                <a:latin typeface="Calibri"/>
              </a:rPr>
              <a:t>1,  0.449,  0.332 ± 0.121i,  0.087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12343B"/>
                </a:solidFill>
                <a:latin typeface="Calibri"/>
              </a:rPr>
              <a:t>Solve λⁿ = r(λ) at each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400" b="1" i="0">
                <a:solidFill>
                  <a:srgbClr val="12343B"/>
                </a:solidFill>
                <a:latin typeface="Cambria"/>
              </a:rPr>
              <a:t>The Maths: Why Consensus Happens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4846320" cy="3200400"/>
          </a:xfrm>
          <a:prstGeom prst="roundRect">
            <a:avLst>
              <a:gd name="adj" fmla="val 4167"/>
            </a:avLst>
          </a:prstGeom>
          <a:solidFill>
            <a:srgbClr val="F1F5F5"/>
          </a:solidFill>
          <a:ln w="12700">
            <a:solidFill>
              <a:srgbClr val="F1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44805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2D6A6F"/>
                </a:solidFill>
                <a:latin typeface="Calibri"/>
              </a:rPr>
              <a:t>1. ONE DOMINANT EIGENVALUE</a:t>
            </a:r>
          </a:p>
          <a:p>
            <a:pPr>
              <a:spcAft>
                <a:spcPts val="1600"/>
              </a:spcAft>
            </a:pPr>
            <a:r>
              <a:rPr sz="1400" b="0" i="0">
                <a:solidFill>
                  <a:srgbClr val="12343B"/>
                </a:solidFill>
                <a:latin typeface="Calibri"/>
              </a:rPr>
              <a:t>λ = 1 is the only eigenvalue with |λ| = 1; the rest have |λ| ≤ 0.449. So Aⁿ → 1vᵀ, with error shrinking like 0.449ⁿ.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2D6A6F"/>
                </a:solidFill>
                <a:latin typeface="Calibri"/>
              </a:rPr>
              <a:t>2. INFLUENCE VECTOR</a:t>
            </a:r>
          </a:p>
          <a:p>
            <a:pPr>
              <a:spcAft>
                <a:spcPts val="1600"/>
              </a:spcAft>
            </a:pPr>
            <a:r>
              <a:rPr sz="1400" b="0" i="0">
                <a:solidFill>
                  <a:srgbClr val="12343B"/>
                </a:solidFill>
                <a:latin typeface="Calibri"/>
              </a:rPr>
              <a:t>Left eigenvector for λ = 1: vᵀA = vᵀ, with Σv = 1.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2D6A6F"/>
                </a:solidFill>
                <a:latin typeface="Calibri"/>
              </a:rPr>
              <a:t>3. CONSENSUS OPINION</a:t>
            </a:r>
          </a:p>
          <a:p>
            <a:pPr>
              <a:spcAft>
                <a:spcPts val="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x* = vᵀx(0) = 0.238·85 + 0.243·20 + 0.194·60 + 0.210·10 + 0.115·95 ≈ 49.74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188720"/>
            <a:ext cx="3200400" cy="2240280"/>
          </a:xfrm>
          <a:prstGeom prst="roundRect">
            <a:avLst>
              <a:gd name="adj" fmla="val 4167"/>
            </a:avLst>
          </a:prstGeom>
          <a:solidFill>
            <a:srgbClr val="F1F5F5"/>
          </a:solidFill>
          <a:ln w="12700">
            <a:solidFill>
              <a:srgbClr val="F1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2618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2D6A6F"/>
                </a:solidFill>
                <a:latin typeface="Calibri"/>
              </a:rPr>
              <a:t>INFLUENCE VECTOR v (%)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577840" y="1508760"/>
          <a:ext cx="3017520" cy="187451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0" y="3611880"/>
            <a:ext cx="3200400" cy="777240"/>
          </a:xfrm>
          <a:prstGeom prst="roundRect">
            <a:avLst>
              <a:gd name="adj" fmla="val 4167"/>
            </a:avLst>
          </a:prstGeom>
          <a:solidFill>
            <a:srgbClr val="2D6A6F"/>
          </a:solidFill>
          <a:ln w="12700">
            <a:solidFill>
              <a:srgbClr val="2D6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3611880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Bob has the largest weight: 24.3%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2026-10-07T15:51:08Z</dcterms:created>
  <dcterms:modified xsi:type="dcterms:W3CDTF">2026-10-07T15:51:08Z</dcterms:modified>
</cp:coreProperties>
</file>